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34167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781825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6/11/2026</a:t>
            </a:fld>
            <a:endParaRPr lang="en-US"/>
          </a:p>
        </p:txBody>
      </p:sp>
      <p:sp>
        <p:nvSpPr>
          <p:cNvPr id="1674825321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0447375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9672850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2368601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6405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632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86429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DBE68-70F3-640A-AC31-044CF50B073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266126-ABB2-FA7A-2748-89F736B2B98A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20A857-B9D7-6B75-2FD0-BF11116D21BC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3890BF-78D7-6041-B55F-91851F34A24C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C51137-6498-322C-4E20-AF4DFD12120D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862890-4692-3A37-5F1B-08BC71E2E905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80F152-86F5-DFEB-2C13-E1E3481C48E1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7184-5015-E9EA-B75E-AB5632F63C0B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08CEA2-57CF-3DA4-DC10-C5DFD493DE83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DE4632-5169-9497-E145-3D398D7F11CE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36683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5393843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4291718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17133009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1741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0209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4927312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0580186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1285969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88011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90724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9325077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3855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5556669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89562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2253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62996902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8629379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1706473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20727488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80415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2832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503563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93318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85170792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20175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12366662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205984541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7175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786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92596756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146083424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727821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2865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211434952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226453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18074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1244364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030724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35537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14711635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1569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55744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911554165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12263635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58762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11548054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17743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2559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55484278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816630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8112659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22855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47305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41330543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8707449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6308128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2790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52685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570208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371226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6/11/2026</a:t>
            </a:fld>
            <a:endParaRPr lang="en-US"/>
          </a:p>
        </p:txBody>
      </p:sp>
      <p:sp>
        <p:nvSpPr>
          <p:cNvPr id="60874379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198886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82631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Mutual Fund Analytics Capstone Project</a:t>
            </a:r>
            <a:endParaRPr lang="en-US"/>
          </a:p>
        </p:txBody>
      </p:sp>
      <p:sp>
        <p:nvSpPr>
          <p:cNvPr id="303990027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2000"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Bluestock Internship Program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Presented By</a:t>
            </a: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M.Sanjay Kumar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5173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Statement</a:t>
            </a:r>
            <a:endParaRPr/>
          </a:p>
        </p:txBody>
      </p:sp>
      <p:sp>
        <p:nvSpPr>
          <p:cNvPr id="14683865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Indian Mutual Fund industry generates large volumes of financial and investor data. However, raw data alone does not provide meaningful insights for investors.</a:t>
            </a:r>
            <a:endParaRPr sz="26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26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project aims to transform raw mutual fund datasets into actionable insights through ETL, analytics, risk modeling, and dashboard visualization.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420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Objectives</a:t>
            </a:r>
            <a:endParaRPr sz="4400">
              <a:latin typeface="Arial"/>
              <a:cs typeface="Arial"/>
            </a:endParaRPr>
          </a:p>
        </p:txBody>
      </p:sp>
      <p:sp>
        <p:nvSpPr>
          <p:cNvPr id="59812395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Build ETL pipeline</a:t>
            </a:r>
            <a:endParaRPr lang="en-US" sz="28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Clean and validate data</a:t>
            </a:r>
            <a:endParaRPr lang="en-US" sz="28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Perform EDA</a:t>
            </a:r>
            <a:endParaRPr lang="en-US" sz="28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Analyze fund performance</a:t>
            </a:r>
            <a:endParaRPr lang="en-US" sz="28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Calculate risk metrics</a:t>
            </a:r>
            <a:endParaRPr lang="en-US" sz="28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Study investor behavior</a:t>
            </a:r>
            <a:endParaRPr lang="en-US" sz="28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Build Power BI dashboard</a:t>
            </a:r>
            <a:endParaRPr lang="en-US" sz="28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Generate recommendations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6213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Sources</a:t>
            </a:r>
            <a:endParaRPr sz="4400">
              <a:latin typeface="Arial"/>
              <a:cs typeface="Arial"/>
            </a:endParaRPr>
          </a:p>
        </p:txBody>
      </p:sp>
      <p:sp>
        <p:nvSpPr>
          <p:cNvPr id="15331117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t>                                   </a:t>
            </a:r>
          </a:p>
        </p:txBody>
      </p:sp>
      <p:graphicFrame>
        <p:nvGraphicFramePr>
          <p:cNvPr id="1181516148" name="Table 1181516147"/>
          <p:cNvGraphicFramePr>
            <a:graphicFrameLocks/>
          </p:cNvGraphicFramePr>
          <p:nvPr/>
        </p:nvGraphicFramePr>
        <p:xfrm>
          <a:off x="2343811" y="1629000"/>
          <a:ext cx="8962867" cy="4648132"/>
        </p:xfrm>
        <a:graphic>
          <a:graphicData uri="http://schemas.openxmlformats.org/drawingml/2006/table">
            <a:tbl>
              <a:tblPr firstRow="1" firstCol="1" bandRow="1"/>
              <a:tblGrid>
                <a:gridCol w="3962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75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5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Fund Master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Scheme Information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5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 History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Daily NAV Data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81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AUM Data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Assets Under Management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75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SIP Inflows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Monthly SIP Statistics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281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Investor Transactions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Investor Activity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75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Portfolio Holdings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Portfolio Allocation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75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Benchmark Data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0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NIFTY Indices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848169" name="Title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9623323" cy="667262"/>
          </a:xfrm>
        </p:spPr>
        <p:txBody>
          <a:bodyPr/>
          <a:lstStyle/>
          <a:p>
            <a:pPr>
              <a:defRPr/>
            </a:pPr>
            <a:r>
              <a:rPr sz="36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ETL Architecture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C8BA14-383E-EFDC-2DF2-3F04C4E1AA33}"/>
              </a:ext>
            </a:extLst>
          </p:cNvPr>
          <p:cNvSpPr txBox="1"/>
          <p:nvPr/>
        </p:nvSpPr>
        <p:spPr>
          <a:xfrm>
            <a:off x="838200" y="1179871"/>
            <a:ext cx="10744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ETL pipeline was designed using Python and Pandas. Raw CSV datasets were ingested, validated, cleaned, transformed, and loaded into a SQLite database for analytics processing.</a:t>
            </a:r>
            <a:endParaRPr lang="en-IN" dirty="0"/>
          </a:p>
          <a:p>
            <a:r>
              <a:rPr lang="en-US" b="1" dirty="0"/>
              <a:t>Data Cleaning Process: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Date standardization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Missing value handling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Duplicate removal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Data type validation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NAV validation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Transaction validation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Expense ratio validation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AMFI code verification</a:t>
            </a:r>
            <a:endParaRPr lang="en-IN" dirty="0"/>
          </a:p>
          <a:p>
            <a:r>
              <a:rPr lang="en-US" b="1" dirty="0"/>
              <a:t>EDA Findings:</a:t>
            </a: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SIP inflows increased consistently from 2022–2025.</a:t>
            </a: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SBI Mutual Fund maintained market leadership.</a:t>
            </a: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Equity categories attracted the highest inflows.</a:t>
            </a: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Industry folio count showed strong growth.</a:t>
            </a: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Small-cap funds delivered superior returns.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9414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EDA Highlights</a:t>
            </a:r>
            <a:endParaRPr sz="4000">
              <a:latin typeface="Arial"/>
              <a:cs typeface="Arial"/>
            </a:endParaRPr>
          </a:p>
        </p:txBody>
      </p:sp>
      <p:sp>
        <p:nvSpPr>
          <p:cNvPr id="153161181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SIP inflows increased significantly between 2022–2025.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Mutual fund participation continued to grow.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NAV trends reflected market movements and economic cycles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1611471554" name="Picture 161147155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8199" y="3296274"/>
            <a:ext cx="4422135" cy="3158667"/>
          </a:xfrm>
          <a:prstGeom prst="rect">
            <a:avLst/>
          </a:prstGeom>
        </p:spPr>
      </p:pic>
      <p:pic>
        <p:nvPicPr>
          <p:cNvPr id="522957864" name="Picture 52295786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043922" y="3462427"/>
            <a:ext cx="2951118" cy="2826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3568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0" i="0" u="none">
                <a:solidFill>
                  <a:srgbClr val="000000"/>
                </a:solidFill>
                <a:latin typeface="Ariall"/>
                <a:ea typeface="Ariall"/>
                <a:cs typeface="Ariall"/>
              </a:rPr>
              <a:t>Performance Analytics</a:t>
            </a:r>
            <a:endParaRPr sz="4000">
              <a:latin typeface="Ariall"/>
              <a:cs typeface="Ariall"/>
            </a:endParaRPr>
          </a:p>
        </p:txBody>
      </p:sp>
      <p:sp>
        <p:nvSpPr>
          <p:cNvPr id="21581983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Metrics Used: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CAGR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Sharpe Ratio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Sortino Ratio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Alpha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Beta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Maximum Drawdown</a:t>
            </a:r>
            <a:endParaRPr sz="2000"/>
          </a:p>
          <a:p>
            <a:pPr marL="0" indent="0">
              <a:buFont typeface="Arial"/>
              <a:buNone/>
              <a:defRPr/>
            </a:pPr>
            <a:r>
              <a:rPr sz="2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Findings</a:t>
            </a:r>
            <a:r>
              <a:rPr sz="2000" b="1"/>
              <a:t>:</a:t>
            </a: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High Sharpe Ratio funds delivered better risk-adjusted returns.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• Direct plans generally outperformed regular plans.</a:t>
            </a:r>
            <a:endParaRPr sz="2200"/>
          </a:p>
        </p:txBody>
      </p:sp>
      <p:pic>
        <p:nvPicPr>
          <p:cNvPr id="2108088402" name="Picture 210808840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34590" y="1612613"/>
            <a:ext cx="6715942" cy="33579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1428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Risk Analytics</a:t>
            </a:r>
            <a:endParaRPr sz="4000">
              <a:latin typeface="Arial"/>
              <a:cs typeface="Arial"/>
            </a:endParaRPr>
          </a:p>
        </p:txBody>
      </p:sp>
      <p:sp>
        <p:nvSpPr>
          <p:cNvPr id="59757541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Risk Metrics:</a:t>
            </a:r>
            <a:endParaRPr sz="20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 dirty="0" err="1">
                <a:solidFill>
                  <a:schemeClr val="tx1"/>
                </a:solidFill>
                <a:latin typeface="Arial"/>
                <a:ea typeface="Arial"/>
                <a:cs typeface="Arial"/>
              </a:rPr>
              <a:t>VaR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(95%)</a:t>
            </a:r>
            <a:endParaRPr sz="20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CVaR</a:t>
            </a:r>
            <a:endParaRPr sz="20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Rolling Sharpe Ratio</a:t>
            </a:r>
            <a:endParaRPr sz="20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Sector HHI</a:t>
            </a:r>
            <a:endParaRPr sz="2000" dirty="0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000" dirty="0">
              <a:latin typeface="Arial"/>
              <a:cs typeface="Arial"/>
            </a:endParaRPr>
          </a:p>
          <a:p>
            <a:pPr marL="0" indent="0">
              <a:buNone/>
              <a:defRPr/>
            </a:pPr>
            <a:endParaRPr sz="2000" dirty="0">
              <a:latin typeface="Arial"/>
              <a:cs typeface="Arial"/>
            </a:endParaRPr>
          </a:p>
          <a:p>
            <a:pPr>
              <a:defRPr/>
            </a:pPr>
            <a:endParaRPr sz="2000" dirty="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Findings</a:t>
            </a:r>
            <a:endParaRPr sz="20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Small-cap funds exhibited higher downside risk.</a:t>
            </a:r>
            <a:endParaRPr sz="2000" b="0" i="0" u="none" strike="noStrike" cap="none" spc="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Diversified portfolios showed lower concentration risk.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1641212242" name="Picture 164121224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47461" y="1454713"/>
            <a:ext cx="7706339" cy="3721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005175" name="Title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6958781" cy="34279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sz="4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Dashboard Overview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1010750900" name="Picture 101075089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04261" y="848521"/>
            <a:ext cx="5064624" cy="26717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37030651" name="Picture 53703065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95998" y="780282"/>
            <a:ext cx="4970993" cy="27399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83131848" name="Picture 68313184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04262" y="3829531"/>
            <a:ext cx="5064624" cy="26660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54280957" name="Picture 45428095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095998" y="3792533"/>
            <a:ext cx="4970993" cy="27399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213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Key Findings</a:t>
            </a:r>
            <a:endParaRPr sz="4000">
              <a:latin typeface="Arial"/>
              <a:cs typeface="Arial"/>
            </a:endParaRPr>
          </a:p>
        </p:txBody>
      </p:sp>
      <p:sp>
        <p:nvSpPr>
          <p:cNvPr id="7949873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SIP inflows reached record highs.</a:t>
            </a:r>
            <a:endParaRPr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Investor participation increased steadily.</a:t>
            </a:r>
            <a:endParaRPr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Risk-adjusted metrics provide better fund evaluation.</a:t>
            </a:r>
            <a:endParaRPr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Portfolio diversification reduces risk.</a:t>
            </a:r>
            <a:endParaRPr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Advanced analytics improves investment decision-making.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695532" name="Content Placeholder 2"/>
          <p:cNvSpPr>
            <a:spLocks noGrp="1"/>
          </p:cNvSpPr>
          <p:nvPr>
            <p:ph idx="1"/>
          </p:nvPr>
        </p:nvSpPr>
        <p:spPr bwMode="auto">
          <a:xfrm>
            <a:off x="3664470" y="2621977"/>
            <a:ext cx="4737865" cy="1094333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7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Thank You</a:t>
            </a:r>
            <a:endParaRPr sz="72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381</Words>
  <Application>Microsoft Office PowerPoint</Application>
  <PresentationFormat>Widescreen</PresentationFormat>
  <Paragraphs>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Ariall</vt:lpstr>
      <vt:lpstr>Office Theme</vt:lpstr>
      <vt:lpstr>Mutual Fund Analytics Capstone Project</vt:lpstr>
      <vt:lpstr>Problem Statement</vt:lpstr>
      <vt:lpstr> Objectives</vt:lpstr>
      <vt:lpstr>Data Sources</vt:lpstr>
      <vt:lpstr>ETL Architecture</vt:lpstr>
      <vt:lpstr> EDA Highlights</vt:lpstr>
      <vt:lpstr>Performance Analytics</vt:lpstr>
      <vt:lpstr>Risk Analytics</vt:lpstr>
      <vt:lpstr>Dashboard Overview</vt:lpstr>
      <vt:lpstr>Key Findings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pshibam05@gmail.com</cp:lastModifiedBy>
  <cp:revision>7</cp:revision>
  <dcterms:modified xsi:type="dcterms:W3CDTF">2026-06-11T17:59:40Z</dcterms:modified>
</cp:coreProperties>
</file>